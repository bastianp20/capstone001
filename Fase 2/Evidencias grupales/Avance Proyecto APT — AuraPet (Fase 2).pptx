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74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2932"/>
            <a:ext cx="10566400" cy="419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2932"/>
            <a:ext cx="10566400" cy="419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13D"/>
              </a:gs>
              <a:gs pos="100000">
                <a:srgbClr val="1B3A5C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ASIGNATURA CAPSTONE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856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Proyecto APT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AuraPet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2717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integral de salud y adopción de mascotas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814060"/>
            <a:ext cx="29404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Penroz · Bastián Palavecino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24683" y="5849620"/>
            <a:ext cx="18545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en Informática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AuraPet en una frase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52930"/>
            <a:ext cx="5687219" cy="4192270"/>
          </a:xfrm>
          <a:prstGeom prst="roundRect">
            <a:avLst>
              <a:gd name="adj" fmla="val 3635"/>
            </a:avLst>
          </a:prstGeom>
          <a:solidFill>
            <a:srgbClr val="14213D"/>
          </a:solidFill>
          <a:ln/>
        </p:spPr>
        <p:txBody>
          <a:bodyPr wrap="square" lIns="310964" tIns="310964" rIns="161683" bIns="310964" rtlCol="0" anchor="ctr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móvil/web que </a:t>
            </a: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citas, historial clínico y adopción de </a:t>
            </a:r>
            <a:r>
              <a:rPr lang="en-US" sz="1800" b="1" dirty="0" smtClean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mascotas</a:t>
            </a:r>
            <a:r>
              <a:rPr lang="en-US" dirty="0" smtClean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800" dirty="0"/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 t="-867" b="-867"/>
          <a:stretch/>
        </p:blipFill>
        <p:spPr>
          <a:xfrm>
            <a:off x="6855619" y="3103245"/>
            <a:ext cx="137319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9938" y="3103245"/>
            <a:ext cx="43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a dueños de mascotas, veterinarios y centros veterinarios en un solo sistema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120890" y="3717925"/>
            <a:ext cx="43860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pic>
        <p:nvPicPr>
          <p:cNvPr id="9" name="Image 2" descr="Verified"/>
          <p:cNvPicPr>
            <a:picLocks noChangeAspect="1"/>
          </p:cNvPicPr>
          <p:nvPr/>
        </p:nvPicPr>
        <p:blipFill>
          <a:blip r:embed="rId4"/>
          <a:srcRect l="-491" r="-491"/>
          <a:stretch/>
        </p:blipFill>
        <p:spPr>
          <a:xfrm>
            <a:off x="6834505" y="4002405"/>
            <a:ext cx="179546" cy="20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19938" y="3949065"/>
            <a:ext cx="43435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Fomenta la adopción responsable con fichas médicas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21592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ha construido hasta ahora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49730"/>
            <a:ext cx="1046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completó el diagrama de casos de uso y el modelo entidad-relación de la base de datos, y el equipo avanzó en la implementación técnica de las tres capas del sistema.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369186"/>
            <a:ext cx="3380264" cy="346964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6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880" y="2625091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980691"/>
            <a:ext cx="29545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React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1880" y="3310891"/>
            <a:ext cx="2954507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estructurada en componentes reutilizables, con una experiencia consistente entre vistas.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05789" y="2369186"/>
            <a:ext cx="3380343" cy="346964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0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1694" y="2625091"/>
            <a:ext cx="254000" cy="25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694" y="2980691"/>
            <a:ext cx="29545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TypeScript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1694" y="3310891"/>
            <a:ext cx="2954589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estático que aporta mayor seguridad en la lógica de negocio y las validaciones del sistema.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95682" y="2369186"/>
            <a:ext cx="3380343" cy="346964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4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1587" y="2625091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1587" y="2980691"/>
            <a:ext cx="29545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— Supabase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51587" y="3310891"/>
            <a:ext cx="2954589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con autenticación y servicios en tiempo real, integrados con el frontend.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12800" y="6256021"/>
            <a:ext cx="91567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AuraPet — Avance Fase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 LA PROPUESTA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en la metodología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2932"/>
            <a:ext cx="4826000" cy="4192270"/>
          </a:xfrm>
          <a:prstGeom prst="roundRect">
            <a:avLst>
              <a:gd name="adj" fmla="val 3635"/>
            </a:avLst>
          </a:prstGeom>
          <a:solidFill>
            <a:srgbClr val="F1F5F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3480436"/>
            <a:ext cx="43428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HABÍA PLANIFICADO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7600" y="3803014"/>
            <a:ext cx="43428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las pantallas en Figma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4204336"/>
            <a:ext cx="4342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Prototipos de interfaz previos al desarrollo del frontend.</a:t>
            </a:r>
            <a:endParaRPr lang="en-US" sz="1200" dirty="0"/>
          </a:p>
        </p:txBody>
      </p:sp>
      <p:pic>
        <p:nvPicPr>
          <p:cNvPr id="8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3796664"/>
            <a:ext cx="3048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53200" y="1852932"/>
            <a:ext cx="4826000" cy="4192270"/>
          </a:xfrm>
          <a:prstGeom prst="roundRect">
            <a:avLst>
              <a:gd name="adj" fmla="val 3635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267075"/>
            <a:ext cx="43428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DESCARTÓ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3589657"/>
            <a:ext cx="45212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quedó fuera del flujo de trabajo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0" y="3990975"/>
            <a:ext cx="43428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fue necesario para avanzar y el equipo no contaba con tiempo para aprender a usarlo a fondo. El resto de la metodología Scrum se mantiene sin cambios.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 LA PROPUESTA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hizo el levantamiento de requerimientos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0521"/>
            <a:ext cx="1046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ajustó la forma de documentarlo, apoyándose en tres artefactos concretos en lugar de solo actas de reunión.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159636"/>
            <a:ext cx="3380264" cy="388239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6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880" y="2415539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2771139"/>
            <a:ext cx="29545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1880" y="3086100"/>
            <a:ext cx="295450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 visión, problema, usuarios objetivo y propuesta de valor del producto.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05789" y="2159636"/>
            <a:ext cx="3380343" cy="388239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0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1694" y="2415539"/>
            <a:ext cx="254000" cy="25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694" y="2771139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casos de uso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1694" y="3086100"/>
            <a:ext cx="29545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 entre dueños, veterinarios, centros y el sistema.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995682" y="2159636"/>
            <a:ext cx="3380343" cy="3882390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4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1587" y="2415539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1587" y="2771139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entidad-relación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51587" y="3086100"/>
            <a:ext cx="29545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base de datos que soporta los requerimientos levantados.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 LA PROPUESTA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facilitó y qué dificultó el avance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23721"/>
            <a:ext cx="5156200" cy="4221480"/>
          </a:xfrm>
          <a:prstGeom prst="roundRect">
            <a:avLst>
              <a:gd name="adj" fmla="val 3610"/>
            </a:avLst>
          </a:prstGeom>
          <a:solidFill>
            <a:srgbClr val="F1F5F3"/>
          </a:solidFill>
          <a:ln/>
        </p:spPr>
      </p:sp>
      <p:pic>
        <p:nvPicPr>
          <p:cNvPr id="5" name="Image 0" descr="Thumbs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2136139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7800" y="2128521"/>
            <a:ext cx="252069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facilitadores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7600" y="2524761"/>
            <a:ext cx="468299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inteligente de IA como apoyo en el desarrollo y la toma de decisiones técnicas.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7600" y="3083561"/>
            <a:ext cx="468299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de Udemy y videos de referencia para reforzar conocimientos del equipo.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7600" y="3642361"/>
            <a:ext cx="46829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 constante durante todo el sprint.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3000" y="1823721"/>
            <a:ext cx="5156200" cy="4221480"/>
          </a:xfrm>
          <a:prstGeom prst="roundRect">
            <a:avLst>
              <a:gd name="adj" fmla="val 3610"/>
            </a:avLst>
          </a:prstGeom>
          <a:solidFill>
            <a:srgbClr val="14213D"/>
          </a:solidFill>
          <a:ln/>
        </p:spPr>
      </p:sp>
      <p:pic>
        <p:nvPicPr>
          <p:cNvPr id="11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7800" y="2136139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128521"/>
            <a:ext cx="218141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dificultad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27800" y="2524761"/>
            <a:ext cx="468299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Cumplir con los plazos establecidos manteniendo todo el sistema funcional, dado el nivel de exigencia técnica de los módulos en desarrollo.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27800" y="3367723"/>
            <a:ext cx="468299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abordamos: priorizamos las funcionalidades del MVP y dejamos lo complementario para sprints posteriores.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DEL PLAN DE TRABAJO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82"/>
            <a:ext cx="10883392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05"/>
              </a:lnSpc>
              <a:buNone/>
            </a:pPr>
            <a:r>
              <a:rPr lang="en-US" sz="27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avance por actividad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298669"/>
              </p:ext>
            </p:extLst>
          </p:nvPr>
        </p:nvGraphicFramePr>
        <p:xfrm>
          <a:off x="822960" y="1743074"/>
          <a:ext cx="10556240" cy="2218055"/>
        </p:xfrm>
        <a:graphic>
          <a:graphicData uri="http://schemas.openxmlformats.org/drawingml/2006/table">
            <a:tbl>
              <a:tblPr/>
              <a:tblGrid>
                <a:gridCol w="2955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Ajuste realizado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Levantamiento de requerimientos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S1–S4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Alan y Bastián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9260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Ajustada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incorporó Product Vision y casos de uso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 de la solución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S3–S4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Bastián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9260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Ajustada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eliminó el uso de Figma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y base de datos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S5–S9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9260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Ajustada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Bastián apoyó en la base de datos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S8–S12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Bastián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s-CL" sz="1050" dirty="0" smtClean="0">
                          <a:solidFill>
                            <a:srgbClr val="1F6E5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En</a:t>
                      </a:r>
                      <a:r>
                        <a:rPr lang="es-CL" sz="1050" baseline="0" dirty="0" smtClean="0">
                          <a:solidFill>
                            <a:srgbClr val="1F6E5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Proceso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ajustes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de IA y pruebas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S12–S15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Alan y Bastián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iniciada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ajustes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y presentación final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S16–S18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Alan y Bastián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iniciada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7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ajustes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6673" marR="46673" marT="46673" marB="46673">
                    <a:lnL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56021"/>
            <a:ext cx="104648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actividad está retrasada: el equipo sigue el cronograma planificado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DEL PLAN DE TRABAJO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9979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Aspectos técnicos y metodológicos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52585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endParaRPr lang="en-US" sz="1500" dirty="0"/>
          </a:p>
        </p:txBody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04721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2200" y="2204721"/>
            <a:ext cx="50727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en el frontend, componentes reutilizables y consistentes</a:t>
            </a:r>
            <a:endParaRPr lang="en-US" sz="1200" dirty="0"/>
          </a:p>
        </p:txBody>
      </p:sp>
      <p:pic>
        <p:nvPicPr>
          <p:cNvPr id="7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570479"/>
            <a:ext cx="177800" cy="177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200" y="2570479"/>
            <a:ext cx="47173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en el backend, tipado estático en toda la lógica</a:t>
            </a:r>
            <a:endParaRPr lang="en-US" sz="1200" dirty="0"/>
          </a:p>
        </p:txBody>
      </p:sp>
      <p:pic>
        <p:nvPicPr>
          <p:cNvPr id="9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2936242"/>
            <a:ext cx="177800" cy="177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200" y="2936242"/>
            <a:ext cx="43849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</a:t>
            </a:r>
            <a:r>
              <a:rPr lang="en-US" sz="1200" dirty="0" smtClean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73800" y="1823721"/>
            <a:ext cx="52585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Metodológico</a:t>
            </a:r>
            <a:endParaRPr lang="en-US" sz="1500" dirty="0"/>
          </a:p>
        </p:txBody>
      </p:sp>
      <p:pic>
        <p:nvPicPr>
          <p:cNvPr id="12" name="Image 3" descr="C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73800" y="2204721"/>
            <a:ext cx="177800" cy="177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53200" y="2204721"/>
            <a:ext cx="38324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organizado en sprints de 2 semanas</a:t>
            </a:r>
            <a:endParaRPr lang="en-US" sz="1200" dirty="0"/>
          </a:p>
        </p:txBody>
      </p:sp>
      <p:pic>
        <p:nvPicPr>
          <p:cNvPr id="16" name="Image 5" descr="Users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60358" y="2570479"/>
            <a:ext cx="177800" cy="177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553200" y="2570479"/>
            <a:ext cx="54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generales y específicos </a:t>
            </a:r>
            <a:r>
              <a:rPr lang="en-US" sz="1200" dirty="0" smtClean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ajustados</a:t>
            </a:r>
            <a:r>
              <a:rPr lang="en-US" sz="1200" dirty="0" smtClean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respecto </a:t>
            </a: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Fase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13D"/>
              </a:gs>
              <a:gs pos="100000">
                <a:srgbClr val="1B3A5C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6F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800" y="1160779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 en el proyecto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3162939"/>
            <a:ext cx="5149850" cy="996950"/>
          </a:xfrm>
          <a:prstGeom prst="roundRect">
            <a:avLst>
              <a:gd name="adj" fmla="val 1242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880" y="3418842"/>
            <a:ext cx="4777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1880" y="3690621"/>
            <a:ext cx="47771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del módulo de IA y pruebas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6175" y="3162939"/>
            <a:ext cx="5149850" cy="996950"/>
          </a:xfrm>
          <a:prstGeom prst="roundRect">
            <a:avLst>
              <a:gd name="adj" fmla="val 1242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2080" y="3418842"/>
            <a:ext cx="4777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82080" y="3690621"/>
            <a:ext cx="47771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y presentación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5694679"/>
            <a:ext cx="134216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64861" y="5831842"/>
            <a:ext cx="27143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Penroz · Bastián Palavecino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ance Proyecto APT — AuraPet (Fase 2)">
  <a:themeElements>
    <a:clrScheme name="Avance Proyecto APT — AuraPet (Fase 2)">
      <a:dk1>
        <a:srgbClr val="14213D"/>
      </a:dk1>
      <a:lt1>
        <a:srgbClr val="FBFBF8"/>
      </a:lt1>
      <a:dk2>
        <a:srgbClr val="4E586C"/>
      </a:dk2>
      <a:lt2>
        <a:srgbClr val="E4E5E5"/>
      </a:lt2>
      <a:accent1>
        <a:srgbClr val="2F8F7A"/>
      </a:accent1>
      <a:accent2>
        <a:srgbClr val="6FD6BE"/>
      </a:accent2>
      <a:accent3>
        <a:srgbClr val="1B3A5C"/>
      </a:accent3>
      <a:accent4>
        <a:srgbClr val="4A5568"/>
      </a:accent4>
      <a:accent5>
        <a:srgbClr val="BFD8D5"/>
      </a:accent5>
      <a:accent6>
        <a:srgbClr val="9AA0A6"/>
      </a:accent6>
      <a:hlink>
        <a:srgbClr val="0563C1"/>
      </a:hlink>
      <a:folHlink>
        <a:srgbClr val="954F72"/>
      </a:folHlink>
    </a:clrScheme>
    <a:fontScheme name="Avance Proyecto APT — AuraPet (Fase 2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590</Words>
  <Application>Microsoft Office PowerPoint</Application>
  <PresentationFormat>Panorámica</PresentationFormat>
  <Paragraphs>109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Avance Proyecto APT — AuraPet (Fase 2)</vt:lpstr>
      <vt:lpstr>Avance Proyecto APT AuraPet</vt:lpstr>
      <vt:lpstr>AuraPet en una frase</vt:lpstr>
      <vt:lpstr>Qué se ha construido hasta ahora</vt:lpstr>
      <vt:lpstr>Cambio en la metodología</vt:lpstr>
      <vt:lpstr>Cómo se hizo el levantamiento de requerimientos</vt:lpstr>
      <vt:lpstr>Qué facilitó y qué dificultó el avance</vt:lpstr>
      <vt:lpstr>Estado de avance por actividad</vt:lpstr>
      <vt:lpstr>Aspectos técnicos y metodológicos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Proyecto APT — AuraPet (Fase 2)</dc:title>
  <dc:subject/>
  <dc:creator/>
  <cp:lastModifiedBy>Alan Penroz</cp:lastModifiedBy>
  <cp:revision>4</cp:revision>
  <dcterms:created xsi:type="dcterms:W3CDTF">2026-10-09T02:39:00Z</dcterms:created>
  <dcterms:modified xsi:type="dcterms:W3CDTF">2026-10-09T03:25:47Z</dcterms:modified>
</cp:coreProperties>
</file>